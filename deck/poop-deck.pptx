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63a3c0cf-39a0-244a-47a4-ea8da37a17d5}">
          <p14:sldIdLst>
            <p14:sldId id="256"/>
            <p14:sldId id="257"/>
          </p14:sldIdLst>
        </p14:section>
        <p14:section name="為甚麼" id="{4facf632-07a9-dbf6-2f30-020fb64e6c63}">
          <p14:sldIdLst>
            <p14:sldId id="258"/>
          </p14:sldIdLst>
        </p14:section>
        <p14:section name="誰在做" id="{e7f3188e-b57a-e179-5e1a-9c59040843b5}">
          <p14:sldIdLst>
            <p14:sldId id="259"/>
          </p14:sldIdLst>
        </p14:section>
        <p14:section name="計劃內容" id="{1e0f25e1-4033-4f38-d144-30498543682e}">
          <p14:sldIdLst>
            <p14:sldId id="260"/>
            <p14:sldId id="261"/>
            <p14:sldId id="262"/>
            <p14:sldId id="263"/>
          </p14:sldIdLst>
        </p14:section>
        <p14:section name="成果" id="{41ee8cfe-662e-7285-7772-cf016d0e72df}">
          <p14:sldIdLst>
            <p14:sldId id="264"/>
          </p14:sldIdLst>
        </p14:section>
        <p14:section name="參與" id="{05ef6912-6de3-8807-2c35-779f61b8bba0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絕版重生計劃，由 3ook.com 圖書館發起，現正招募社會大眾參與。網址 poop.3ook.com。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這是整個計劃的核心理念。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三個背景：破壞性掃描後銷毀、圖書館收藏有限、絕版是常態。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3ook.com 圖書館是計劃的發起方，也是後續配套。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計劃以華文書籍優先，尤其台灣及香港。製作與上架是兩件事。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版權歸屬不變，這是版權持有人最常問的一點。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三種情況：有電子檔最好，只有紙本也可以，甚麼都沒有我們幫忙找。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免費參加；營運靠訂閱收益與義工。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這些只是其中一部分，完整書目見 poop.3ook.com。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版權持有人與義工都是 poop@3ook.com；支持計劃請訂閱 3ook.com。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歡迎聯絡 poop@3ook.com，或到 poop.3ook.com 了解更多。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965960"/>
            <a:ext cx="1081735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300" kern="0" dirty="0">
                <a:solidFill>
                  <a:srgbClr val="50E3C2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2377440"/>
            <a:ext cx="10817352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2EADD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3657600"/>
            <a:ext cx="1081735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CFC3B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75488"/>
            <a:ext cx="1081735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D1A17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225296"/>
            <a:ext cx="1081735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7A6F64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68580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C8E"/>
                </a:solidFill>
              </a:rPr>
              <a:t>poop.3ook.com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9C8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1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75488"/>
            <a:ext cx="1081735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2EADD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225296"/>
            <a:ext cx="1081735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9A8D7D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68580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356"/>
                </a:solidFill>
              </a:rPr>
              <a:t>poop.3ook.com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_DARK">
    <p:bg>
      <p:bgPr>
        <a:solidFill>
          <a:srgbClr val="1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286000"/>
            <a:ext cx="10817352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en-US" sz="4000" b="1" dirty="0">
                <a:solidFill>
                  <a:srgbClr val="F2EADD"/>
                </a:solidFill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9C8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965960"/>
            <a:ext cx="10817352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50E3C2"/>
                </a:solidFill>
              </a:rPr>
              <a:t>POOP · PROJECT OUT-OF-PRINT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2377440"/>
            <a:ext cx="10817352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2EADD"/>
                </a:solidFill>
              </a:rPr>
              <a:t>絕版重生計劃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3657600"/>
            <a:ext cx="10817352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200" dirty="0">
                <a:solidFill>
                  <a:srgbClr val="CFC3B2"/>
                </a:solidFill>
              </a:rPr>
              <a:t>好書不該被遺忘，讓絕版重生，讓思想流通。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84632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D7D"/>
                </a:solidFill>
              </a:rPr>
              <a:t>由 3ook.com 圖書館發起　|　現正招募社會大眾參與　|　poop.3ook.com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286000"/>
            <a:ext cx="10817352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000" b="1" dirty="0">
                <a:solidFill>
                  <a:srgbClr val="F2EADD"/>
                </a:solidFill>
              </a:rPr>
              <a:t>好書不該被遺忘，
</a:t>
            </a:r>
            <a:pPr algn="l" indent="0" marL="0">
              <a:lnSpc>
                <a:spcPct val="150000"/>
              </a:lnSpc>
              <a:buNone/>
            </a:pPr>
            <a:r>
              <a:rPr lang="en-US" sz="4000" b="1" dirty="0">
                <a:solidFill>
                  <a:srgbClr val="50E3C2"/>
                </a:solidFill>
              </a:rPr>
              <a:t>讓絕版重生，讓思想流通。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3736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0E3C2"/>
                </a:solidFill>
              </a:rPr>
              <a:t>計劃理念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75488"/>
            <a:ext cx="1081735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D1A17"/>
                </a:solidFill>
              </a:rPr>
              <a:t>為甚麼要做這件事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225296"/>
            <a:ext cx="10817352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7A6F64"/>
                </a:solidFill>
              </a:rPr>
              <a:t>絕版，不只是書店缺貨，而是一本書逐漸從公共記憶中消失</a:t>
            </a:r>
            <a:endParaRPr lang="en-US" sz="1500" dirty="0"/>
          </a:p>
        </p:txBody>
      </p:sp>
      <p:sp>
        <p:nvSpPr>
          <p:cNvPr id="4" name="reason-0"/>
          <p:cNvSpPr/>
          <p:nvPr/>
        </p:nvSpPr>
        <p:spPr>
          <a:xfrm>
            <a:off x="685800" y="1920240"/>
            <a:ext cx="3602736" cy="3291840"/>
          </a:xfrm>
          <a:prstGeom prst="roundRect">
            <a:avLst>
              <a:gd name="adj" fmla="val 3333"/>
            </a:avLst>
          </a:prstGeom>
          <a:solidFill>
            <a:srgbClr val="F5ECE0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5" name="reason-badge-0"/>
          <p:cNvSpPr/>
          <p:nvPr/>
        </p:nvSpPr>
        <p:spPr>
          <a:xfrm>
            <a:off x="1033272" y="2267712"/>
            <a:ext cx="475488" cy="475488"/>
          </a:xfrm>
          <a:prstGeom prst="ellipse">
            <a:avLst/>
          </a:prstGeom>
          <a:solidFill>
            <a:srgbClr val="50E3C2"/>
          </a:solidFill>
          <a:ln w="12700">
            <a:solidFill>
              <a:srgbClr val="50E3C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3272" y="2267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41E"/>
                </a:solidFill>
              </a:rPr>
              <a:t>壹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28529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A17"/>
                </a:solidFill>
              </a:rPr>
              <a:t>紙本書正在被銷毀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3401568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423A"/>
                </a:solidFill>
              </a:rPr>
              <a:t>Anthropic 等公司大量購入二手書餵飼 AI，破壞性掃描然後銷毀。書的內容進入了模型，實體卻不復存在。</a:t>
            </a:r>
            <a:endParaRPr lang="en-US" sz="1350" dirty="0"/>
          </a:p>
        </p:txBody>
      </p:sp>
      <p:sp>
        <p:nvSpPr>
          <p:cNvPr id="9" name="reason-1"/>
          <p:cNvSpPr/>
          <p:nvPr/>
        </p:nvSpPr>
        <p:spPr>
          <a:xfrm>
            <a:off x="4517136" y="1920240"/>
            <a:ext cx="3602736" cy="3291840"/>
          </a:xfrm>
          <a:prstGeom prst="roundRect">
            <a:avLst>
              <a:gd name="adj" fmla="val 3333"/>
            </a:avLst>
          </a:prstGeom>
          <a:solidFill>
            <a:srgbClr val="F5ECE0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10" name="reason-badge-1"/>
          <p:cNvSpPr/>
          <p:nvPr/>
        </p:nvSpPr>
        <p:spPr>
          <a:xfrm>
            <a:off x="4864608" y="2267712"/>
            <a:ext cx="475488" cy="475488"/>
          </a:xfrm>
          <a:prstGeom prst="ellipse">
            <a:avLst/>
          </a:prstGeom>
          <a:solidFill>
            <a:srgbClr val="50E3C2"/>
          </a:solidFill>
          <a:ln w="12700">
            <a:solidFill>
              <a:srgbClr val="50E3C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4608" y="2267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41E"/>
                </a:solidFill>
              </a:rPr>
              <a:t>貳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28529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A17"/>
                </a:solidFill>
              </a:rPr>
              <a:t>圖書館收藏有限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3401568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423A"/>
                </a:solidFill>
              </a:rPr>
              <a:t>公共圖書館只收藏部分書籍，很多作品在絕版後難以被公眾接觸到。</a:t>
            </a:r>
            <a:endParaRPr lang="en-US" sz="1350" dirty="0"/>
          </a:p>
        </p:txBody>
      </p:sp>
      <p:sp>
        <p:nvSpPr>
          <p:cNvPr id="14" name="reason-2"/>
          <p:cNvSpPr/>
          <p:nvPr/>
        </p:nvSpPr>
        <p:spPr>
          <a:xfrm>
            <a:off x="8348472" y="1920240"/>
            <a:ext cx="3602736" cy="3291840"/>
          </a:xfrm>
          <a:prstGeom prst="roundRect">
            <a:avLst>
              <a:gd name="adj" fmla="val 3333"/>
            </a:avLst>
          </a:prstGeom>
          <a:solidFill>
            <a:srgbClr val="F5ECE0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15" name="reason-badge-2"/>
          <p:cNvSpPr/>
          <p:nvPr/>
        </p:nvSpPr>
        <p:spPr>
          <a:xfrm>
            <a:off x="8695944" y="2267712"/>
            <a:ext cx="475488" cy="475488"/>
          </a:xfrm>
          <a:prstGeom prst="ellipse">
            <a:avLst/>
          </a:prstGeom>
          <a:solidFill>
            <a:srgbClr val="50E3C2"/>
          </a:solidFill>
          <a:ln w="12700">
            <a:solidFill>
              <a:srgbClr val="50E3C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95944" y="2267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41E"/>
                </a:solidFill>
              </a:rPr>
              <a:t>參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695944" y="28529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A17"/>
                </a:solidFill>
              </a:rPr>
              <a:t>絕版是常態，不是例外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695944" y="3401568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423A"/>
                </a:solidFill>
              </a:rPr>
              <a:t>絕大部分書籍，本來就會隨著需求下降，踏入絕版的階段。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9C8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75488"/>
            <a:ext cx="1081735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D1A17"/>
                </a:solidFill>
              </a:rPr>
              <a:t>由 3ook.com 圖書館發起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225296"/>
            <a:ext cx="10817352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7A6F64"/>
                </a:solidFill>
              </a:rPr>
              <a:t>民營的電子圖書館，現正招募社會大眾參與</a:t>
            </a:r>
            <a:endParaRPr lang="en-US" sz="1500" dirty="0"/>
          </a:p>
        </p:txBody>
      </p:sp>
      <p:sp>
        <p:nvSpPr>
          <p:cNvPr id="4" name="lib-desc"/>
          <p:cNvSpPr/>
          <p:nvPr/>
        </p:nvSpPr>
        <p:spPr>
          <a:xfrm>
            <a:off x="685800" y="1920240"/>
            <a:ext cx="5669280" cy="3291840"/>
          </a:xfrm>
          <a:prstGeom prst="roundRect">
            <a:avLst>
              <a:gd name="adj" fmla="val 3333"/>
            </a:avLst>
          </a:prstGeom>
          <a:solidFill>
            <a:srgbClr val="F5ECE0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7059"/>
                </a:solidFill>
              </a:rPr>
              <a:t>像電子書的 Netflix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8036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4A423A"/>
                </a:solidFill>
              </a:rPr>
              <a:t>3ook.com 圖書館是民營的電子圖書館，收藏數千本香港、台灣書籍，持續增加中。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4A423A"/>
                </a:solidFill>
              </a:rPr>
              <a:t>讀者可透過 iPhone、Android app 或網站使用，訂閱後無限閱聽。</a:t>
            </a:r>
            <a:endParaRPr lang="en-US" sz="1450" dirty="0"/>
          </a:p>
        </p:txBody>
      </p:sp>
      <p:sp>
        <p:nvSpPr>
          <p:cNvPr id="7" name="stat-0"/>
          <p:cNvSpPr/>
          <p:nvPr/>
        </p:nvSpPr>
        <p:spPr>
          <a:xfrm>
            <a:off x="6583680" y="1920240"/>
            <a:ext cx="4919472" cy="1005840"/>
          </a:xfrm>
          <a:prstGeom prst="roundRect">
            <a:avLst>
              <a:gd name="adj" fmla="val 10909"/>
            </a:avLst>
          </a:prstGeom>
          <a:solidFill>
            <a:srgbClr val="F5ECE0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49440" y="20756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7059"/>
                </a:solidFill>
              </a:rPr>
              <a:t>數千本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2468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23A"/>
                </a:solidFill>
              </a:rPr>
              <a:t>香港、台灣書籍，持續增加中</a:t>
            </a:r>
            <a:endParaRPr lang="en-US" sz="1250" dirty="0"/>
          </a:p>
        </p:txBody>
      </p:sp>
      <p:sp>
        <p:nvSpPr>
          <p:cNvPr id="10" name="stat-1"/>
          <p:cNvSpPr/>
          <p:nvPr/>
        </p:nvSpPr>
        <p:spPr>
          <a:xfrm>
            <a:off x="6583680" y="3063240"/>
            <a:ext cx="4919472" cy="1005840"/>
          </a:xfrm>
          <a:prstGeom prst="roundRect">
            <a:avLst>
              <a:gd name="adj" fmla="val 10909"/>
            </a:avLst>
          </a:prstGeom>
          <a:solidFill>
            <a:srgbClr val="F5ECE0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0" y="32186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7059"/>
                </a:solidFill>
              </a:rPr>
              <a:t>無限閱聽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23A"/>
                </a:solidFill>
              </a:rPr>
              <a:t>訂閱後可閱聽所有作品</a:t>
            </a:r>
            <a:endParaRPr lang="en-US" sz="1250" dirty="0"/>
          </a:p>
        </p:txBody>
      </p:sp>
      <p:sp>
        <p:nvSpPr>
          <p:cNvPr id="13" name="stat-2"/>
          <p:cNvSpPr/>
          <p:nvPr/>
        </p:nvSpPr>
        <p:spPr>
          <a:xfrm>
            <a:off x="6583680" y="4206240"/>
            <a:ext cx="4919472" cy="1005840"/>
          </a:xfrm>
          <a:prstGeom prst="roundRect">
            <a:avLst>
              <a:gd name="adj" fmla="val 10909"/>
            </a:avLst>
          </a:prstGeom>
          <a:solidFill>
            <a:srgbClr val="F5ECE0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43616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7059"/>
                </a:solidFill>
              </a:rPr>
              <a:t>按時數回饋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4754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23A"/>
                </a:solidFill>
              </a:rPr>
              <a:t>訂閱收益按閱聽時數回饋創作者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9C8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75488"/>
            <a:ext cx="1081735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D1A17"/>
                </a:solidFill>
              </a:rPr>
              <a:t>計劃涵蓋甚麼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225296"/>
            <a:ext cx="10817352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7A6F64"/>
                </a:solidFill>
              </a:rPr>
              <a:t>不限語言及地域，與電子書店上架沒有必然關係</a:t>
            </a:r>
            <a:endParaRPr lang="en-US" sz="1500" dirty="0"/>
          </a:p>
        </p:txBody>
      </p:sp>
      <p:sp>
        <p:nvSpPr>
          <p:cNvPr id="4" name="scope-0"/>
          <p:cNvSpPr/>
          <p:nvPr/>
        </p:nvSpPr>
        <p:spPr>
          <a:xfrm>
            <a:off x="685800" y="1920240"/>
            <a:ext cx="5294376" cy="2286000"/>
          </a:xfrm>
          <a:prstGeom prst="roundRect">
            <a:avLst>
              <a:gd name="adj" fmla="val 4800"/>
            </a:avLst>
          </a:prstGeom>
          <a:solidFill>
            <a:srgbClr val="F5ECE0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240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A17"/>
                </a:solidFill>
              </a:rPr>
              <a:t>不只香港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78892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23A"/>
                </a:solidFill>
              </a:rPr>
              <a:t>雖然香港的確是絕版書的重災區，但計劃不限定語言及地域，而以華文書籍優先，尤其台灣及香港出版的作品。</a:t>
            </a:r>
            <a:endParaRPr lang="en-US" sz="1400" dirty="0"/>
          </a:p>
        </p:txBody>
      </p:sp>
      <p:sp>
        <p:nvSpPr>
          <p:cNvPr id="7" name="scope-1"/>
          <p:cNvSpPr/>
          <p:nvPr/>
        </p:nvSpPr>
        <p:spPr>
          <a:xfrm>
            <a:off x="6208776" y="1920240"/>
            <a:ext cx="5294376" cy="2286000"/>
          </a:xfrm>
          <a:prstGeom prst="roundRect">
            <a:avLst>
              <a:gd name="adj" fmla="val 4800"/>
            </a:avLst>
          </a:prstGeom>
          <a:solidFill>
            <a:srgbClr val="F5ECE0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0256" y="2240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A17"/>
                </a:solidFill>
              </a:rPr>
              <a:t>不一定要上架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620256" y="278892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23A"/>
                </a:solidFill>
              </a:rPr>
              <a:t>3ook.com 圖書館是「絕版重生」計劃的後續配套，但兩者沒有必然關係。版權持有人可自行處理，也可以交由 3ook.com 代勞。</a:t>
            </a:r>
            <a:endParaRPr lang="en-US" sz="1400" dirty="0"/>
          </a:p>
        </p:txBody>
      </p:sp>
      <p:sp>
        <p:nvSpPr>
          <p:cNvPr id="10" name="sensitive-note"/>
          <p:cNvSpPr/>
          <p:nvPr/>
        </p:nvSpPr>
        <p:spPr>
          <a:xfrm>
            <a:off x="685800" y="4526280"/>
            <a:ext cx="10817352" cy="868680"/>
          </a:xfrm>
          <a:prstGeom prst="roundRect">
            <a:avLst>
              <a:gd name="adj" fmla="val 12632"/>
            </a:avLst>
          </a:prstGeom>
          <a:solidFill>
            <a:srgbClr val="E7F8F3"/>
          </a:solidFill>
          <a:ln w="12700">
            <a:solidFill>
              <a:srgbClr val="BDEB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4681728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059"/>
                </a:solidFill>
              </a:rPr>
              <a:t>敏感書？　</a:t>
            </a:r>
            <a:pPr indent="0" marL="0">
              <a:buNone/>
            </a:pPr>
            <a:r>
              <a:rPr lang="en-US" sz="1400" dirty="0">
                <a:solidFill>
                  <a:srgbClr val="35544C"/>
                </a:solidFill>
              </a:rPr>
              <a:t>計劃的重點在協助製作電子書。製作後是否上架由版權持有人決定；是否容許上架，由各電子書店按當地法規決定。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9C8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75488"/>
            <a:ext cx="1081735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D1A17"/>
                </a:solidFill>
              </a:rPr>
              <a:t>版權仍然屬於版權持有人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225296"/>
            <a:ext cx="10817352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7A6F64"/>
                </a:solidFill>
              </a:rPr>
              <a:t>參與計劃並不影響版權歸屬</a:t>
            </a:r>
            <a:endParaRPr lang="en-US" sz="1500" dirty="0"/>
          </a:p>
        </p:txBody>
      </p:sp>
      <p:sp>
        <p:nvSpPr>
          <p:cNvPr id="4" name="right-0"/>
          <p:cNvSpPr/>
          <p:nvPr/>
        </p:nvSpPr>
        <p:spPr>
          <a:xfrm>
            <a:off x="685800" y="1920240"/>
            <a:ext cx="10817352" cy="1207008"/>
          </a:xfrm>
          <a:prstGeom prst="roundRect">
            <a:avLst>
              <a:gd name="adj" fmla="val 9091"/>
            </a:avLst>
          </a:prstGeom>
          <a:solidFill>
            <a:srgbClr val="F5ECE0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5" name="right-badge-0"/>
          <p:cNvSpPr/>
          <p:nvPr/>
        </p:nvSpPr>
        <p:spPr>
          <a:xfrm>
            <a:off x="1069848" y="2286000"/>
            <a:ext cx="475488" cy="475488"/>
          </a:xfrm>
          <a:prstGeom prst="ellipse">
            <a:avLst/>
          </a:prstGeom>
          <a:solidFill>
            <a:srgbClr val="50E3C2"/>
          </a:solidFill>
          <a:ln w="12700">
            <a:solidFill>
              <a:srgbClr val="50E3C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41E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1214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A17"/>
                </a:solidFill>
              </a:rPr>
              <a:t>版權誰屬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5420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23A"/>
                </a:solidFill>
              </a:rPr>
              <a:t>原版權持有人保有電子書的版權，可自由使用，包括私下分發或自行上架各電子書平台。</a:t>
            </a:r>
            <a:endParaRPr lang="en-US" sz="1350" dirty="0"/>
          </a:p>
        </p:txBody>
      </p:sp>
      <p:sp>
        <p:nvSpPr>
          <p:cNvPr id="9" name="right-1"/>
          <p:cNvSpPr/>
          <p:nvPr/>
        </p:nvSpPr>
        <p:spPr>
          <a:xfrm>
            <a:off x="685800" y="3291840"/>
            <a:ext cx="10817352" cy="1207008"/>
          </a:xfrm>
          <a:prstGeom prst="roundRect">
            <a:avLst>
              <a:gd name="adj" fmla="val 9091"/>
            </a:avLst>
          </a:prstGeom>
          <a:solidFill>
            <a:srgbClr val="F5ECE0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10" name="right-badge-1"/>
          <p:cNvSpPr/>
          <p:nvPr/>
        </p:nvSpPr>
        <p:spPr>
          <a:xfrm>
            <a:off x="1069848" y="3657600"/>
            <a:ext cx="475488" cy="475488"/>
          </a:xfrm>
          <a:prstGeom prst="ellipse">
            <a:avLst/>
          </a:prstGeom>
          <a:solidFill>
            <a:srgbClr val="50E3C2"/>
          </a:solidFill>
          <a:ln w="12700">
            <a:solidFill>
              <a:srgbClr val="50E3C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" y="3657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41E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4930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A17"/>
                </a:solidFill>
              </a:rPr>
              <a:t>要出版社同意嗎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39136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23A"/>
                </a:solidFill>
              </a:rPr>
              <a:t>視乎合約條文及是否過期。台灣及香港典型合約為期三至五年，如包括電子版，期間內應由出版社參與。</a:t>
            </a:r>
            <a:endParaRPr lang="en-US" sz="1350" dirty="0"/>
          </a:p>
        </p:txBody>
      </p:sp>
      <p:sp>
        <p:nvSpPr>
          <p:cNvPr id="14" name="right-2"/>
          <p:cNvSpPr/>
          <p:nvPr/>
        </p:nvSpPr>
        <p:spPr>
          <a:xfrm>
            <a:off x="685800" y="4663440"/>
            <a:ext cx="10817352" cy="1207008"/>
          </a:xfrm>
          <a:prstGeom prst="roundRect">
            <a:avLst>
              <a:gd name="adj" fmla="val 9091"/>
            </a:avLst>
          </a:prstGeom>
          <a:solidFill>
            <a:srgbClr val="F5ECE0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15" name="right-badge-2"/>
          <p:cNvSpPr/>
          <p:nvPr/>
        </p:nvSpPr>
        <p:spPr>
          <a:xfrm>
            <a:off x="1069848" y="5029200"/>
            <a:ext cx="475488" cy="475488"/>
          </a:xfrm>
          <a:prstGeom prst="ellipse">
            <a:avLst/>
          </a:prstGeom>
          <a:solidFill>
            <a:srgbClr val="50E3C2"/>
          </a:solidFill>
          <a:ln w="12700">
            <a:solidFill>
              <a:srgbClr val="50E3C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9848" y="5029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41E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48646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A17"/>
                </a:solidFill>
              </a:rPr>
              <a:t>合約期滿之後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5285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23A"/>
                </a:solidFill>
              </a:rPr>
              <a:t>一般而言文本的出版權回歸作者；編輯、排版、封面設計等版權仍屬出版社，可協商取得，或由義工重新製作。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9C8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75488"/>
            <a:ext cx="1081735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D1A17"/>
                </a:solidFill>
              </a:rPr>
              <a:t>版權持有人需要提供甚麼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225296"/>
            <a:ext cx="10817352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7A6F64"/>
                </a:solidFill>
              </a:rPr>
              <a:t>由最理想到最低限度，三種情況都能處理</a:t>
            </a:r>
            <a:endParaRPr lang="en-US" sz="1500" dirty="0"/>
          </a:p>
        </p:txBody>
      </p:sp>
      <p:sp>
        <p:nvSpPr>
          <p:cNvPr id="4" name="mat-0"/>
          <p:cNvSpPr/>
          <p:nvPr/>
        </p:nvSpPr>
        <p:spPr>
          <a:xfrm>
            <a:off x="685800" y="2011680"/>
            <a:ext cx="3602736" cy="2834640"/>
          </a:xfrm>
          <a:prstGeom prst="roundRect">
            <a:avLst>
              <a:gd name="adj" fmla="val 3871"/>
            </a:avLst>
          </a:prstGeom>
          <a:solidFill>
            <a:srgbClr val="F5ECE0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3272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7059"/>
                </a:solidFill>
              </a:rPr>
              <a:t>最理想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33272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1A17"/>
                </a:solidFill>
              </a:rPr>
              <a:t>電子檔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32918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423A"/>
                </a:solidFill>
              </a:rPr>
              <a:t>如 Word、InDesign、PDF，圖片另外提供。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88536" y="3154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BCA9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mat-1"/>
          <p:cNvSpPr/>
          <p:nvPr/>
        </p:nvSpPr>
        <p:spPr>
          <a:xfrm>
            <a:off x="4517136" y="2011680"/>
            <a:ext cx="3602736" cy="2834640"/>
          </a:xfrm>
          <a:prstGeom prst="roundRect">
            <a:avLst>
              <a:gd name="adj" fmla="val 3871"/>
            </a:avLst>
          </a:prstGeom>
          <a:solidFill>
            <a:srgbClr val="F5ECE0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4608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7059"/>
                </a:solidFill>
              </a:rPr>
              <a:t>其次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1A17"/>
                </a:solidFill>
              </a:rPr>
              <a:t>紙本書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32918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423A"/>
                </a:solidFill>
              </a:rPr>
              <a:t>由義工逆向製作電子版。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119872" y="3154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BCA9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mat-2"/>
          <p:cNvSpPr/>
          <p:nvPr/>
        </p:nvSpPr>
        <p:spPr>
          <a:xfrm>
            <a:off x="8348472" y="2011680"/>
            <a:ext cx="3602736" cy="2834640"/>
          </a:xfrm>
          <a:prstGeom prst="roundRect">
            <a:avLst>
              <a:gd name="adj" fmla="val 3871"/>
            </a:avLst>
          </a:prstGeom>
          <a:solidFill>
            <a:srgbClr val="F5ECE0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95944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7059"/>
                </a:solidFill>
              </a:rPr>
              <a:t>都沒有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95944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1A17"/>
                </a:solidFill>
              </a:rPr>
              <a:t>義工協助搜尋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8695944" y="32918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423A"/>
                </a:solidFill>
              </a:rPr>
              <a:t>如果連紙本書都無法提供，義工會盡力協助搜尋。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9C8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75488"/>
            <a:ext cx="1081735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D1A17"/>
                </a:solidFill>
              </a:rPr>
              <a:t>免費參加，那如何持續營運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225296"/>
            <a:ext cx="10817352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7A6F64"/>
                </a:solidFill>
              </a:rPr>
              <a:t>為推動文化保育，計劃免費參加，但歡迎參加者自由定價支持</a:t>
            </a:r>
            <a:endParaRPr lang="en-US" sz="1500" dirty="0"/>
          </a:p>
        </p:txBody>
      </p:sp>
      <p:sp>
        <p:nvSpPr>
          <p:cNvPr id="4" name="free-callout"/>
          <p:cNvSpPr/>
          <p:nvPr/>
        </p:nvSpPr>
        <p:spPr>
          <a:xfrm>
            <a:off x="685800" y="2011680"/>
            <a:ext cx="3931920" cy="2834640"/>
          </a:xfrm>
          <a:prstGeom prst="roundRect">
            <a:avLst>
              <a:gd name="adj" fmla="val 3871"/>
            </a:avLst>
          </a:prstGeom>
          <a:solidFill>
            <a:srgbClr val="0A7059"/>
          </a:solidFill>
          <a:ln w="12700">
            <a:solidFill>
              <a:srgbClr val="0A70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514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免費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520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FEFE6"/>
                </a:solidFill>
              </a:rPr>
              <a:t>參加計劃不收費，歡迎自由定價支持。</a:t>
            </a:r>
            <a:endParaRPr lang="en-US" sz="1450" dirty="0"/>
          </a:p>
        </p:txBody>
      </p:sp>
      <p:sp>
        <p:nvSpPr>
          <p:cNvPr id="7" name="ops-0"/>
          <p:cNvSpPr/>
          <p:nvPr/>
        </p:nvSpPr>
        <p:spPr>
          <a:xfrm>
            <a:off x="4846320" y="2011680"/>
            <a:ext cx="6656832" cy="1325880"/>
          </a:xfrm>
          <a:prstGeom prst="roundRect">
            <a:avLst>
              <a:gd name="adj" fmla="val 8276"/>
            </a:avLst>
          </a:prstGeom>
          <a:solidFill>
            <a:srgbClr val="F5ECE0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1945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A17"/>
                </a:solidFill>
              </a:rPr>
              <a:t>讓書籍持續流通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257860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A423A"/>
                </a:solidFill>
              </a:rPr>
              <a:t>我們認為最健康的模式是讓書籍持續流通，讓讀者接觸並付費支持。訂閱 3ook.com 圖書館，即可支持絕版重生，並獲得閱聽所有作品的權利。</a:t>
            </a:r>
            <a:endParaRPr lang="en-US" sz="1350" dirty="0"/>
          </a:p>
        </p:txBody>
      </p:sp>
      <p:sp>
        <p:nvSpPr>
          <p:cNvPr id="10" name="ops-1"/>
          <p:cNvSpPr/>
          <p:nvPr/>
        </p:nvSpPr>
        <p:spPr>
          <a:xfrm>
            <a:off x="4846320" y="3520440"/>
            <a:ext cx="6656832" cy="1325880"/>
          </a:xfrm>
          <a:prstGeom prst="roundRect">
            <a:avLst>
              <a:gd name="adj" fmla="val 8276"/>
            </a:avLst>
          </a:prstGeom>
          <a:solidFill>
            <a:srgbClr val="F5ECE0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7033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A17"/>
                </a:solidFill>
              </a:rPr>
              <a:t>招募義工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408736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A423A"/>
                </a:solidFill>
              </a:rPr>
              <a:t>除了訂閱支持，若你願意付出時間，歡迎報名成為計劃的義工。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9C8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75488"/>
            <a:ext cx="1081735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D1A17"/>
                </a:solidFill>
              </a:rPr>
              <a:t>已經重生的作品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225296"/>
            <a:ext cx="10817352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7A6F64"/>
                </a:solidFill>
              </a:rPr>
              <a:t>部分已經或正在重生的作品</a:t>
            </a:r>
            <a:endParaRPr lang="en-US" sz="1500" dirty="0"/>
          </a:p>
        </p:txBody>
      </p:sp>
      <p:sp>
        <p:nvSpPr>
          <p:cNvPr id="4" name="book-0"/>
          <p:cNvSpPr/>
          <p:nvPr/>
        </p:nvSpPr>
        <p:spPr>
          <a:xfrm>
            <a:off x="685800" y="1920240"/>
            <a:ext cx="3602736" cy="1115568"/>
          </a:xfrm>
          <a:prstGeom prst="roundRect">
            <a:avLst>
              <a:gd name="adj" fmla="val 9836"/>
            </a:avLst>
          </a:prstGeom>
          <a:solidFill>
            <a:srgbClr val="F5ECE0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5" name="book-mark-0"/>
          <p:cNvSpPr/>
          <p:nvPr/>
        </p:nvSpPr>
        <p:spPr>
          <a:xfrm>
            <a:off x="960120" y="2194560"/>
            <a:ext cx="82296" cy="566928"/>
          </a:xfrm>
          <a:prstGeom prst="roundRect">
            <a:avLst>
              <a:gd name="adj" fmla="val 44444"/>
            </a:avLst>
          </a:prstGeom>
          <a:solidFill>
            <a:srgbClr val="50E3C2"/>
          </a:solidFill>
          <a:ln w="12700">
            <a:solidFill>
              <a:srgbClr val="50E3C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215798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A17"/>
                </a:solidFill>
              </a:rPr>
              <a:t>歐洲 12 國 16 天遊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6151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4"/>
                </a:solidFill>
              </a:rPr>
              <a:t>馬國明</a:t>
            </a:r>
            <a:endParaRPr lang="en-US" sz="1200" dirty="0"/>
          </a:p>
        </p:txBody>
      </p:sp>
      <p:sp>
        <p:nvSpPr>
          <p:cNvPr id="8" name="book-1"/>
          <p:cNvSpPr/>
          <p:nvPr/>
        </p:nvSpPr>
        <p:spPr>
          <a:xfrm>
            <a:off x="4517136" y="1920240"/>
            <a:ext cx="3602736" cy="1115568"/>
          </a:xfrm>
          <a:prstGeom prst="roundRect">
            <a:avLst>
              <a:gd name="adj" fmla="val 9836"/>
            </a:avLst>
          </a:prstGeom>
          <a:solidFill>
            <a:srgbClr val="F5ECE0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9" name="book-mark-1"/>
          <p:cNvSpPr/>
          <p:nvPr/>
        </p:nvSpPr>
        <p:spPr>
          <a:xfrm>
            <a:off x="4791456" y="2194560"/>
            <a:ext cx="82296" cy="566928"/>
          </a:xfrm>
          <a:prstGeom prst="roundRect">
            <a:avLst>
              <a:gd name="adj" fmla="val 44444"/>
            </a:avLst>
          </a:prstGeom>
          <a:solidFill>
            <a:srgbClr val="50E3C2"/>
          </a:solidFill>
          <a:ln w="12700">
            <a:solidFill>
              <a:srgbClr val="50E3C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0056" y="215798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A17"/>
                </a:solidFill>
              </a:rPr>
              <a:t>〇〇年代：社運結束，耕田繼續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20056" y="26151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4"/>
                </a:solidFill>
              </a:rPr>
              <a:t>梁景鴻</a:t>
            </a:r>
            <a:endParaRPr lang="en-US" sz="1200" dirty="0"/>
          </a:p>
        </p:txBody>
      </p:sp>
      <p:sp>
        <p:nvSpPr>
          <p:cNvPr id="12" name="book-2"/>
          <p:cNvSpPr/>
          <p:nvPr/>
        </p:nvSpPr>
        <p:spPr>
          <a:xfrm>
            <a:off x="8348472" y="1920240"/>
            <a:ext cx="3602736" cy="1115568"/>
          </a:xfrm>
          <a:prstGeom prst="roundRect">
            <a:avLst>
              <a:gd name="adj" fmla="val 9836"/>
            </a:avLst>
          </a:prstGeom>
          <a:solidFill>
            <a:srgbClr val="F5ECE0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13" name="book-mark-2"/>
          <p:cNvSpPr/>
          <p:nvPr/>
        </p:nvSpPr>
        <p:spPr>
          <a:xfrm>
            <a:off x="8622792" y="2194560"/>
            <a:ext cx="82296" cy="566928"/>
          </a:xfrm>
          <a:prstGeom prst="roundRect">
            <a:avLst>
              <a:gd name="adj" fmla="val 44444"/>
            </a:avLst>
          </a:prstGeom>
          <a:solidFill>
            <a:srgbClr val="50E3C2"/>
          </a:solidFill>
          <a:ln w="12700">
            <a:solidFill>
              <a:srgbClr val="50E3C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51392" y="215798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A17"/>
                </a:solidFill>
              </a:rPr>
              <a:t>走過火紅的傘下銀髮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851392" y="26151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4"/>
                </a:solidFill>
              </a:rPr>
              <a:t>楊寶熙</a:t>
            </a:r>
            <a:endParaRPr lang="en-US" sz="1200" dirty="0"/>
          </a:p>
        </p:txBody>
      </p:sp>
      <p:sp>
        <p:nvSpPr>
          <p:cNvPr id="16" name="book-3"/>
          <p:cNvSpPr/>
          <p:nvPr/>
        </p:nvSpPr>
        <p:spPr>
          <a:xfrm>
            <a:off x="685800" y="3218688"/>
            <a:ext cx="3602736" cy="1115568"/>
          </a:xfrm>
          <a:prstGeom prst="roundRect">
            <a:avLst>
              <a:gd name="adj" fmla="val 9836"/>
            </a:avLst>
          </a:prstGeom>
          <a:solidFill>
            <a:srgbClr val="F5ECE0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17" name="book-mark-3"/>
          <p:cNvSpPr/>
          <p:nvPr/>
        </p:nvSpPr>
        <p:spPr>
          <a:xfrm>
            <a:off x="960120" y="3493008"/>
            <a:ext cx="82296" cy="566928"/>
          </a:xfrm>
          <a:prstGeom prst="roundRect">
            <a:avLst>
              <a:gd name="adj" fmla="val 44444"/>
            </a:avLst>
          </a:prstGeom>
          <a:solidFill>
            <a:srgbClr val="50E3C2"/>
          </a:solidFill>
          <a:ln w="12700">
            <a:solidFill>
              <a:srgbClr val="50E3C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88720" y="345643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A17"/>
                </a:solidFill>
              </a:rPr>
              <a:t>七千零七夜：戀戀書廊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913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4"/>
                </a:solidFill>
              </a:rPr>
              <a:t>趙良駿</a:t>
            </a:r>
            <a:endParaRPr lang="en-US" sz="1200" dirty="0"/>
          </a:p>
        </p:txBody>
      </p:sp>
      <p:sp>
        <p:nvSpPr>
          <p:cNvPr id="20" name="book-4"/>
          <p:cNvSpPr/>
          <p:nvPr/>
        </p:nvSpPr>
        <p:spPr>
          <a:xfrm>
            <a:off x="4517136" y="3218688"/>
            <a:ext cx="3602736" cy="1115568"/>
          </a:xfrm>
          <a:prstGeom prst="roundRect">
            <a:avLst>
              <a:gd name="adj" fmla="val 9836"/>
            </a:avLst>
          </a:prstGeom>
          <a:solidFill>
            <a:srgbClr val="F5ECE0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21" name="book-mark-4"/>
          <p:cNvSpPr/>
          <p:nvPr/>
        </p:nvSpPr>
        <p:spPr>
          <a:xfrm>
            <a:off x="4791456" y="3493008"/>
            <a:ext cx="82296" cy="566928"/>
          </a:xfrm>
          <a:prstGeom prst="roundRect">
            <a:avLst>
              <a:gd name="adj" fmla="val 44444"/>
            </a:avLst>
          </a:prstGeom>
          <a:solidFill>
            <a:srgbClr val="50E3C2"/>
          </a:solidFill>
          <a:ln w="12700">
            <a:solidFill>
              <a:srgbClr val="50E3C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0056" y="345643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A17"/>
                </a:solidFill>
              </a:rPr>
              <a:t>北韓迷宮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020056" y="3913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4"/>
                </a:solidFill>
              </a:rPr>
              <a:t>薯伯伯</a:t>
            </a:r>
            <a:endParaRPr lang="en-US" sz="1200" dirty="0"/>
          </a:p>
        </p:txBody>
      </p:sp>
      <p:sp>
        <p:nvSpPr>
          <p:cNvPr id="24" name="book-5"/>
          <p:cNvSpPr/>
          <p:nvPr/>
        </p:nvSpPr>
        <p:spPr>
          <a:xfrm>
            <a:off x="8348472" y="3218688"/>
            <a:ext cx="3602736" cy="1115568"/>
          </a:xfrm>
          <a:prstGeom prst="roundRect">
            <a:avLst>
              <a:gd name="adj" fmla="val 9836"/>
            </a:avLst>
          </a:prstGeom>
          <a:solidFill>
            <a:srgbClr val="F5ECE0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25" name="book-mark-5"/>
          <p:cNvSpPr/>
          <p:nvPr/>
        </p:nvSpPr>
        <p:spPr>
          <a:xfrm>
            <a:off x="8622792" y="3493008"/>
            <a:ext cx="82296" cy="566928"/>
          </a:xfrm>
          <a:prstGeom prst="roundRect">
            <a:avLst>
              <a:gd name="adj" fmla="val 44444"/>
            </a:avLst>
          </a:prstGeom>
          <a:solidFill>
            <a:srgbClr val="50E3C2"/>
          </a:solidFill>
          <a:ln w="12700">
            <a:solidFill>
              <a:srgbClr val="50E3C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51392" y="345643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A17"/>
                </a:solidFill>
              </a:rPr>
              <a:t>大事件：記香港 WTO 採訪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851392" y="3913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4"/>
                </a:solidFill>
              </a:rPr>
              <a:t>鄭依依等</a:t>
            </a:r>
            <a:endParaRPr lang="en-US" sz="1200" dirty="0"/>
          </a:p>
        </p:txBody>
      </p:sp>
      <p:sp>
        <p:nvSpPr>
          <p:cNvPr id="28" name="book-6"/>
          <p:cNvSpPr/>
          <p:nvPr/>
        </p:nvSpPr>
        <p:spPr>
          <a:xfrm>
            <a:off x="685800" y="4517136"/>
            <a:ext cx="3602736" cy="1115568"/>
          </a:xfrm>
          <a:prstGeom prst="roundRect">
            <a:avLst>
              <a:gd name="adj" fmla="val 9836"/>
            </a:avLst>
          </a:prstGeom>
          <a:solidFill>
            <a:srgbClr val="F5ECE0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29" name="book-mark-6"/>
          <p:cNvSpPr/>
          <p:nvPr/>
        </p:nvSpPr>
        <p:spPr>
          <a:xfrm>
            <a:off x="960120" y="4791456"/>
            <a:ext cx="82296" cy="566928"/>
          </a:xfrm>
          <a:prstGeom prst="roundRect">
            <a:avLst>
              <a:gd name="adj" fmla="val 44444"/>
            </a:avLst>
          </a:prstGeom>
          <a:solidFill>
            <a:srgbClr val="50E3C2"/>
          </a:solidFill>
          <a:ln w="12700">
            <a:solidFill>
              <a:srgbClr val="50E3C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88720" y="47548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A17"/>
                </a:solidFill>
              </a:rPr>
              <a:t>火紅芝大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5212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4"/>
                </a:solidFill>
              </a:rPr>
              <a:t>崔少明</a:t>
            </a:r>
            <a:endParaRPr lang="en-US" sz="1200" dirty="0"/>
          </a:p>
        </p:txBody>
      </p:sp>
      <p:sp>
        <p:nvSpPr>
          <p:cNvPr id="32" name="book-7"/>
          <p:cNvSpPr/>
          <p:nvPr/>
        </p:nvSpPr>
        <p:spPr>
          <a:xfrm>
            <a:off x="4517136" y="4517136"/>
            <a:ext cx="3602736" cy="1115568"/>
          </a:xfrm>
          <a:prstGeom prst="roundRect">
            <a:avLst>
              <a:gd name="adj" fmla="val 9836"/>
            </a:avLst>
          </a:prstGeom>
          <a:solidFill>
            <a:srgbClr val="F5ECE0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33" name="book-mark-7"/>
          <p:cNvSpPr/>
          <p:nvPr/>
        </p:nvSpPr>
        <p:spPr>
          <a:xfrm>
            <a:off x="4791456" y="4791456"/>
            <a:ext cx="82296" cy="566928"/>
          </a:xfrm>
          <a:prstGeom prst="roundRect">
            <a:avLst>
              <a:gd name="adj" fmla="val 44444"/>
            </a:avLst>
          </a:prstGeom>
          <a:solidFill>
            <a:srgbClr val="50E3C2"/>
          </a:solidFill>
          <a:ln w="12700">
            <a:solidFill>
              <a:srgbClr val="50E3C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20056" y="47548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A17"/>
                </a:solidFill>
              </a:rPr>
              <a:t>馬聞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020056" y="5212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4"/>
                </a:solidFill>
              </a:rPr>
              <a:t>馬聞義工組</a:t>
            </a:r>
            <a:endParaRPr lang="en-US" sz="1200" dirty="0"/>
          </a:p>
        </p:txBody>
      </p:sp>
      <p:sp>
        <p:nvSpPr>
          <p:cNvPr id="36" name="book-8"/>
          <p:cNvSpPr/>
          <p:nvPr/>
        </p:nvSpPr>
        <p:spPr>
          <a:xfrm>
            <a:off x="8348472" y="4517136"/>
            <a:ext cx="3602736" cy="1115568"/>
          </a:xfrm>
          <a:prstGeom prst="roundRect">
            <a:avLst>
              <a:gd name="adj" fmla="val 9836"/>
            </a:avLst>
          </a:prstGeom>
          <a:solidFill>
            <a:srgbClr val="F5ECE0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37" name="book-mark-8"/>
          <p:cNvSpPr/>
          <p:nvPr/>
        </p:nvSpPr>
        <p:spPr>
          <a:xfrm>
            <a:off x="8622792" y="4791456"/>
            <a:ext cx="82296" cy="566928"/>
          </a:xfrm>
          <a:prstGeom prst="roundRect">
            <a:avLst>
              <a:gd name="adj" fmla="val 44444"/>
            </a:avLst>
          </a:prstGeom>
          <a:solidFill>
            <a:srgbClr val="50E3C2"/>
          </a:solidFill>
          <a:ln w="12700">
            <a:solidFill>
              <a:srgbClr val="50E3C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851392" y="47548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A17"/>
                </a:solidFill>
              </a:rPr>
              <a:t>Porcelain 白瓷（製作中）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851392" y="5212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4"/>
                </a:solidFill>
              </a:rPr>
              <a:t>李智良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9C8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75488"/>
            <a:ext cx="1081735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2EADD"/>
                </a:solidFill>
              </a:rPr>
              <a:t>三種參與方式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225296"/>
            <a:ext cx="10817352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9A8D7D"/>
                </a:solidFill>
              </a:rPr>
              <a:t>免費參加，歡迎自由定價支持計劃</a:t>
            </a:r>
            <a:endParaRPr lang="en-US" sz="1500" dirty="0"/>
          </a:p>
        </p:txBody>
      </p:sp>
      <p:sp>
        <p:nvSpPr>
          <p:cNvPr id="4" name="join-0"/>
          <p:cNvSpPr/>
          <p:nvPr/>
        </p:nvSpPr>
        <p:spPr>
          <a:xfrm>
            <a:off x="685800" y="1920240"/>
            <a:ext cx="3602736" cy="3200400"/>
          </a:xfrm>
          <a:prstGeom prst="roundRect">
            <a:avLst>
              <a:gd name="adj" fmla="val 3429"/>
            </a:avLst>
          </a:prstGeom>
          <a:solidFill>
            <a:srgbClr val="1C1813"/>
          </a:solidFill>
          <a:ln w="12700">
            <a:solidFill>
              <a:srgbClr val="332C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3272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0E3C2"/>
                </a:solidFill>
              </a:rPr>
              <a:t>我是版權持有人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33272" y="27889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FC3B2"/>
                </a:solidFill>
              </a:rPr>
              <a:t>作者、譯者、出版社、或已故作者的家屬——只要手上有一本值得重生的絕版書，都歡迎聯絡我們。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4480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ADD"/>
                </a:solidFill>
              </a:rPr>
              <a:t>poop@3ook.com</a:t>
            </a:r>
            <a:endParaRPr lang="en-US" sz="1400" dirty="0"/>
          </a:p>
        </p:txBody>
      </p:sp>
      <p:sp>
        <p:nvSpPr>
          <p:cNvPr id="8" name="join-1"/>
          <p:cNvSpPr/>
          <p:nvPr/>
        </p:nvSpPr>
        <p:spPr>
          <a:xfrm>
            <a:off x="4517136" y="1920240"/>
            <a:ext cx="3602736" cy="3200400"/>
          </a:xfrm>
          <a:prstGeom prst="roundRect">
            <a:avLst>
              <a:gd name="adj" fmla="val 3429"/>
            </a:avLst>
          </a:prstGeom>
          <a:solidFill>
            <a:srgbClr val="1C1813"/>
          </a:solidFill>
          <a:ln w="12700">
            <a:solidFill>
              <a:srgbClr val="332C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64608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0E3C2"/>
                </a:solidFill>
              </a:rPr>
              <a:t>我想當義工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64608" y="27889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FC3B2"/>
                </a:solidFill>
              </a:rPr>
              <a:t>校對、排版、掃描、修圖、電子書製作、聯絡版權持有人——每一本重生的書，背後都是一班義工。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4480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ADD"/>
                </a:solidFill>
              </a:rPr>
              <a:t>poop@3ook.com</a:t>
            </a:r>
            <a:endParaRPr lang="en-US" sz="1400" dirty="0"/>
          </a:p>
        </p:txBody>
      </p:sp>
      <p:sp>
        <p:nvSpPr>
          <p:cNvPr id="12" name="join-2"/>
          <p:cNvSpPr/>
          <p:nvPr/>
        </p:nvSpPr>
        <p:spPr>
          <a:xfrm>
            <a:off x="8348472" y="1920240"/>
            <a:ext cx="3602736" cy="3200400"/>
          </a:xfrm>
          <a:prstGeom prst="roundRect">
            <a:avLst>
              <a:gd name="adj" fmla="val 3429"/>
            </a:avLst>
          </a:prstGeom>
          <a:solidFill>
            <a:srgbClr val="1C1813"/>
          </a:solidFill>
          <a:ln w="12700">
            <a:solidFill>
              <a:srgbClr val="332C2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95944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0E3C2"/>
                </a:solidFill>
              </a:rPr>
              <a:t>我想支持計劃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695944" y="27889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FC3B2"/>
                </a:solidFill>
              </a:rPr>
              <a:t>訂閱 3ook.com 圖書館，支持絕版重生，無限閱聽數千本香港、台灣書籍。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695944" y="4480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ADD"/>
                </a:solidFill>
              </a:rPr>
              <a:t>3ook.com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965960"/>
            <a:ext cx="10817352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50E3C2"/>
                </a:solidFill>
              </a:rPr>
              <a:t>POOP · PROJECT OUT-OF-PRINT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2377440"/>
            <a:ext cx="10817352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2EADD"/>
                </a:solidFill>
              </a:rPr>
              <a:t>讓絕版重生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3657600"/>
            <a:ext cx="10817352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200" dirty="0">
                <a:solidFill>
                  <a:srgbClr val="CFC3B2"/>
                </a:solidFill>
              </a:rPr>
              <a:t>好書不該被遺忘，讓絕版重生，讓思想流通。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84632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0E3C2"/>
                </a:solidFill>
              </a:rPr>
              <a:t>poop.3ook.com　|　poop@3ook.com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OP">
  <a:themeElements>
    <a:clrScheme name="POOP">
      <a:dk1>
        <a:srgbClr val="16130F"/>
      </a:dk1>
      <a:lt1>
        <a:srgbClr val="FFFFFF"/>
      </a:lt1>
      <a:dk2>
        <a:srgbClr val="0A7059"/>
      </a:dk2>
      <a:lt2>
        <a:srgbClr val="F5ECE0"/>
      </a:lt2>
      <a:accent1>
        <a:srgbClr val="50E3C2"/>
      </a:accent1>
      <a:accent2>
        <a:srgbClr val="0A7059"/>
      </a:accent2>
      <a:accent3>
        <a:srgbClr val="F2EADD"/>
      </a:accent3>
      <a:accent4>
        <a:srgbClr val="7A6F64"/>
      </a:accent4>
      <a:accent5>
        <a:srgbClr val="1C1813"/>
      </a:accent5>
      <a:accent6>
        <a:srgbClr val="1D1A17"/>
      </a:accent6>
      <a:hlink>
        <a:srgbClr val="0A7059"/>
      </a:hlink>
      <a:folHlink>
        <a:srgbClr val="7A6F64"/>
      </a:folHlink>
    </a:clrScheme>
    <a:fontScheme name="POOP">
      <a:majorFont>
        <a:latin typeface="Noto Sans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絕版重生計劃</dc:title>
  <dc:subject>POOP: Project Out-Of-Print</dc:subject>
  <dc:creator>3ook.com 圖書館</dc:creator>
  <cp:lastModifiedBy>3ook.com 圖書館</cp:lastModifiedBy>
  <cp:revision>1</cp:revision>
  <dcterms:created xsi:type="dcterms:W3CDTF">2026-10-16T06:27:19Z</dcterms:created>
  <dcterms:modified xsi:type="dcterms:W3CDTF">2026-10-16T06:27:19Z</dcterms:modified>
</cp:coreProperties>
</file>